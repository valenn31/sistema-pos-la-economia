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685800"/>
            <a:ext cx="1005840" cy="10058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94731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1965960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POS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0" y="2651760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ECONOMÍA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y Defensa Final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0" y="40690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 Profesionalizante II  ·  Módulo V  ·  2026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Final, Documentación, Presentación y Defensa Profesional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V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78992" y="19019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 detectada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578608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78992" y="25603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roles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78992" y="32186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elegida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48640" y="3895344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78992" y="387705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datos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48640" y="4553712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78992" y="453542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funcionales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548640" y="5212080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78992" y="519379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del sistema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172200" y="1920240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25" name="Text 22"/>
          <p:cNvSpPr/>
          <p:nvPr/>
        </p:nvSpPr>
        <p:spPr>
          <a:xfrm>
            <a:off x="6172200" y="1920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6702552" y="190195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final integral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6172200" y="2578608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28" name="Text 25"/>
          <p:cNvSpPr/>
          <p:nvPr/>
        </p:nvSpPr>
        <p:spPr>
          <a:xfrm>
            <a:off x="6172200" y="2578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702552" y="256032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repositorio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172200" y="3236976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31" name="Text 28"/>
          <p:cNvSpPr/>
          <p:nvPr/>
        </p:nvSpPr>
        <p:spPr>
          <a:xfrm>
            <a:off x="6172200" y="3236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702552" y="32186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Demostración en vivo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6172200" y="3895344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34" name="Text 31"/>
          <p:cNvSpPr/>
          <p:nvPr/>
        </p:nvSpPr>
        <p:spPr>
          <a:xfrm>
            <a:off x="617220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702552" y="387705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encontradas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6172200" y="4553712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37" name="Text 34"/>
          <p:cNvSpPr/>
          <p:nvPr/>
        </p:nvSpPr>
        <p:spPr>
          <a:xfrm>
            <a:off x="617220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702552" y="453542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Mejoras logradas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6172200" y="5212080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sp>
        <p:nvSpPr>
          <p:cNvPr id="40" name="Text 37"/>
          <p:cNvSpPr/>
          <p:nvPr/>
        </p:nvSpPr>
        <p:spPr>
          <a:xfrm>
            <a:off x="6172200" y="5212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6702552" y="519379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 de aprobación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 detectada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874520"/>
            <a:ext cx="5120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Economía operaba con procesos manuales y fragmentados: ventas registradas sin control centralizado, stock desincronizado entre depósito y estantería, deuda de clientes anotada en cuadernos y proveedores gestionados por planillas sueltas — sin reportes ni trazabilidad de lo que pasaba día a día.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989320" y="1874520"/>
            <a:ext cx="2596896" cy="1417320"/>
          </a:xfrm>
          <a:prstGeom prst="roundRect">
            <a:avLst>
              <a:gd name="adj" fmla="val 5806"/>
            </a:avLst>
          </a:prstGeom>
          <a:solidFill>
            <a:srgbClr val="FFFBEB"/>
          </a:solidFill>
          <a:ln/>
        </p:spPr>
      </p:sp>
      <p:sp>
        <p:nvSpPr>
          <p:cNvPr id="8" name="Shape 5"/>
          <p:cNvSpPr/>
          <p:nvPr/>
        </p:nvSpPr>
        <p:spPr>
          <a:xfrm>
            <a:off x="6190488" y="2075688"/>
            <a:ext cx="475488" cy="475488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4115" y="219931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90488" y="26609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desincronizado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190488" y="29352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Depósito y estantería sin control real de cantidades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8769096" y="1874520"/>
            <a:ext cx="2596896" cy="1417320"/>
          </a:xfrm>
          <a:prstGeom prst="roundRect">
            <a:avLst>
              <a:gd name="adj" fmla="val 5806"/>
            </a:avLst>
          </a:prstGeom>
          <a:solidFill>
            <a:srgbClr val="FFFBEB"/>
          </a:solidFill>
          <a:ln/>
        </p:spPr>
      </p:sp>
      <p:sp>
        <p:nvSpPr>
          <p:cNvPr id="13" name="Shape 9"/>
          <p:cNvSpPr/>
          <p:nvPr/>
        </p:nvSpPr>
        <p:spPr>
          <a:xfrm>
            <a:off x="8970264" y="2075688"/>
            <a:ext cx="475488" cy="475488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891" y="2199315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970264" y="266090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Deuda sin registro formal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970264" y="293522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corriente de clientes llevada a mano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989320" y="3493008"/>
            <a:ext cx="2596896" cy="1417320"/>
          </a:xfrm>
          <a:prstGeom prst="roundRect">
            <a:avLst>
              <a:gd name="adj" fmla="val 5806"/>
            </a:avLst>
          </a:prstGeom>
          <a:solidFill>
            <a:srgbClr val="FFFBEB"/>
          </a:solidFill>
          <a:ln/>
        </p:spPr>
      </p:sp>
      <p:sp>
        <p:nvSpPr>
          <p:cNvPr id="18" name="Shape 13"/>
          <p:cNvSpPr/>
          <p:nvPr/>
        </p:nvSpPr>
        <p:spPr>
          <a:xfrm>
            <a:off x="6190488" y="3694176"/>
            <a:ext cx="475488" cy="475488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4115" y="3817803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90488" y="42793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manuales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190488" y="45537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Planillas sueltas para compras y proveedores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8769096" y="3493008"/>
            <a:ext cx="2596896" cy="1417320"/>
          </a:xfrm>
          <a:prstGeom prst="roundRect">
            <a:avLst>
              <a:gd name="adj" fmla="val 5806"/>
            </a:avLst>
          </a:prstGeom>
          <a:solidFill>
            <a:srgbClr val="FFFBEB"/>
          </a:solidFill>
          <a:ln/>
        </p:spPr>
      </p:sp>
      <p:sp>
        <p:nvSpPr>
          <p:cNvPr id="23" name="Shape 17"/>
          <p:cNvSpPr/>
          <p:nvPr/>
        </p:nvSpPr>
        <p:spPr>
          <a:xfrm>
            <a:off x="8970264" y="3694176"/>
            <a:ext cx="475488" cy="475488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891" y="3817803"/>
            <a:ext cx="228234" cy="22823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970264" y="42793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reportes ni trazabilidad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8970264" y="45537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visibilidad histórica del negocio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REALIZADO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y permisos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roles, cada uno con acceso solo a lo que necesita para su función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2423160" cy="3108960"/>
          </a:xfrm>
          <a:prstGeom prst="roundRect">
            <a:avLst>
              <a:gd name="adj" fmla="val 3396"/>
            </a:avLst>
          </a:prstGeom>
          <a:solidFill>
            <a:srgbClr val="F1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49808" y="235000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5" y="2473635"/>
            <a:ext cx="228234" cy="2282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9808" y="293522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49808" y="3209544"/>
            <a:ext cx="2020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total del sistema, incluido el setup inicial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246120" y="2148840"/>
            <a:ext cx="2423160" cy="3108960"/>
          </a:xfrm>
          <a:prstGeom prst="roundRect">
            <a:avLst>
              <a:gd name="adj" fmla="val 3396"/>
            </a:avLst>
          </a:prstGeom>
          <a:solidFill>
            <a:srgbClr val="F1F5F9"/>
          </a:solidFill>
          <a:ln/>
        </p:spPr>
      </p:sp>
      <p:sp>
        <p:nvSpPr>
          <p:cNvPr id="13" name="Shape 9"/>
          <p:cNvSpPr/>
          <p:nvPr/>
        </p:nvSpPr>
        <p:spPr>
          <a:xfrm>
            <a:off x="3447288" y="235000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915" y="2473635"/>
            <a:ext cx="228234" cy="22823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47288" y="293522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3447288" y="3209544"/>
            <a:ext cx="2020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módulos: ventas, stock, proveedores, reportes, usuarios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943600" y="2148840"/>
            <a:ext cx="2423160" cy="3108960"/>
          </a:xfrm>
          <a:prstGeom prst="roundRect">
            <a:avLst>
              <a:gd name="adj" fmla="val 3396"/>
            </a:avLst>
          </a:prstGeom>
          <a:solidFill>
            <a:srgbClr val="F1F5F9"/>
          </a:solidFill>
          <a:ln/>
        </p:spPr>
      </p:sp>
      <p:sp>
        <p:nvSpPr>
          <p:cNvPr id="18" name="Shape 13"/>
          <p:cNvSpPr/>
          <p:nvPr/>
        </p:nvSpPr>
        <p:spPr>
          <a:xfrm>
            <a:off x="6144768" y="235000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8395" y="2473635"/>
            <a:ext cx="228234" cy="22823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144768" y="293522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Cajero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6144768" y="3209544"/>
            <a:ext cx="2020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venta y stock en modo lectura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8641080" y="2148840"/>
            <a:ext cx="2423160" cy="3108960"/>
          </a:xfrm>
          <a:prstGeom prst="roundRect">
            <a:avLst>
              <a:gd name="adj" fmla="val 3396"/>
            </a:avLst>
          </a:prstGeom>
          <a:solidFill>
            <a:srgbClr val="F1F5F9"/>
          </a:solidFill>
          <a:ln/>
        </p:spPr>
      </p:sp>
      <p:sp>
        <p:nvSpPr>
          <p:cNvPr id="23" name="Shape 17"/>
          <p:cNvSpPr/>
          <p:nvPr/>
        </p:nvSpPr>
        <p:spPr>
          <a:xfrm>
            <a:off x="8842248" y="235000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5875" y="2473635"/>
            <a:ext cx="228234" cy="22823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842248" y="293522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8842248" y="3209544"/>
            <a:ext cx="20208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y notas de pedido — sin ver proveedores ni precios de compra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ELEGIDA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Supabase, sin servidor propio</a:t>
            </a:r>
            <a:endParaRPr lang="en-US" sz="3000" dirty="0"/>
          </a:p>
        </p:txBody>
      </p:sp>
      <p:pic>
        <p:nvPicPr>
          <p:cNvPr id="6" name="Image 1" descr="C:\Mis cosas GIT\sistema-pos-la-economia\docs\diagrams\d1-arquitectu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466" y="1783080"/>
            <a:ext cx="7468763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DATOS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 por dominio</a:t>
            </a:r>
            <a:endParaRPr lang="en-US" sz="3000" dirty="0"/>
          </a:p>
        </p:txBody>
      </p:sp>
      <p:pic>
        <p:nvPicPr>
          <p:cNvPr id="6" name="Image 1" descr="C:\Mis cosas GIT\sistema-pos-la-economia\docs\diagrams\d3-modelo-dato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960" y="1783080"/>
            <a:ext cx="9151776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TOMADAS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funcionales clave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05200" cy="1874520"/>
          </a:xfrm>
          <a:prstGeom prst="roundRect">
            <a:avLst>
              <a:gd name="adj" fmla="val 4390"/>
            </a:avLst>
          </a:prstGeom>
          <a:solidFill>
            <a:srgbClr val="F1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5" y="2290755"/>
            <a:ext cx="228234" cy="2282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752344"/>
            <a:ext cx="310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Multi-rol por usuario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3026664"/>
            <a:ext cx="3102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usuario puede tener varios roles y elegir con cuál entra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4328160" y="1965960"/>
            <a:ext cx="3505200" cy="1874520"/>
          </a:xfrm>
          <a:prstGeom prst="roundRect">
            <a:avLst>
              <a:gd name="adj" fmla="val 4390"/>
            </a:avLst>
          </a:prstGeom>
          <a:solidFill>
            <a:srgbClr val="F1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529328" y="216712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955" y="22907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9328" y="2752344"/>
            <a:ext cx="310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 rápido de cajero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29328" y="3026664"/>
            <a:ext cx="3102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de 4 dígitos — sin cerrar sesión completa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8107680" y="1965960"/>
            <a:ext cx="3505200" cy="1874520"/>
          </a:xfrm>
          <a:prstGeom prst="roundRect">
            <a:avLst>
              <a:gd name="adj" fmla="val 4390"/>
            </a:avLst>
          </a:prstGeom>
          <a:solidFill>
            <a:srgbClr val="F1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8308848" y="216712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475" y="2290755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08848" y="2752344"/>
            <a:ext cx="310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corriente por período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308848" y="3026664"/>
            <a:ext cx="3102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estado de cuenta muestra solo la deuda activa, no todo el histórico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548640" y="4069080"/>
            <a:ext cx="3505200" cy="1874520"/>
          </a:xfrm>
          <a:prstGeom prst="roundRect">
            <a:avLst>
              <a:gd name="adj" fmla="val 4390"/>
            </a:avLst>
          </a:prstGeom>
          <a:solidFill>
            <a:srgbClr val="F1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749808" y="42702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35" y="4393875"/>
            <a:ext cx="228234" cy="22823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9808" y="4855464"/>
            <a:ext cx="310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configurables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49808" y="5129784"/>
            <a:ext cx="3102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producto, por categoría o reglas de cantidad (3x2)</a:t>
            </a:r>
            <a:endParaRPr lang="en-US" sz="1080" dirty="0"/>
          </a:p>
        </p:txBody>
      </p:sp>
      <p:sp>
        <p:nvSpPr>
          <p:cNvPr id="26" name="Shape 19"/>
          <p:cNvSpPr/>
          <p:nvPr/>
        </p:nvSpPr>
        <p:spPr>
          <a:xfrm>
            <a:off x="4328160" y="4069080"/>
            <a:ext cx="3505200" cy="1874520"/>
          </a:xfrm>
          <a:prstGeom prst="roundRect">
            <a:avLst>
              <a:gd name="adj" fmla="val 4390"/>
            </a:avLst>
          </a:prstGeom>
          <a:solidFill>
            <a:srgbClr val="F1F5F9"/>
          </a:solidFill>
          <a:ln/>
        </p:spPr>
      </p:sp>
      <p:sp>
        <p:nvSpPr>
          <p:cNvPr id="27" name="Shape 20"/>
          <p:cNvSpPr/>
          <p:nvPr/>
        </p:nvSpPr>
        <p:spPr>
          <a:xfrm>
            <a:off x="4529328" y="42702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955" y="4393875"/>
            <a:ext cx="228234" cy="22823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29328" y="4855464"/>
            <a:ext cx="310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Impresión térmica silenciosa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29328" y="5129784"/>
            <a:ext cx="3102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de 58/80mm, sin diálogo de impresión en cada venta</a:t>
            </a:r>
            <a:endParaRPr lang="en-US" sz="1080" dirty="0"/>
          </a:p>
        </p:txBody>
      </p:sp>
      <p:sp>
        <p:nvSpPr>
          <p:cNvPr id="31" name="Shape 23"/>
          <p:cNvSpPr/>
          <p:nvPr/>
        </p:nvSpPr>
        <p:spPr>
          <a:xfrm>
            <a:off x="8107680" y="4069080"/>
            <a:ext cx="3505200" cy="1874520"/>
          </a:xfrm>
          <a:prstGeom prst="roundRect">
            <a:avLst>
              <a:gd name="adj" fmla="val 4390"/>
            </a:avLst>
          </a:prstGeom>
          <a:solidFill>
            <a:srgbClr val="F1F5F9"/>
          </a:solidFill>
          <a:ln/>
        </p:spPr>
      </p:sp>
      <p:sp>
        <p:nvSpPr>
          <p:cNvPr id="32" name="Shape 24"/>
          <p:cNvSpPr/>
          <p:nvPr/>
        </p:nvSpPr>
        <p:spPr>
          <a:xfrm>
            <a:off x="8308848" y="42702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2475" y="4393875"/>
            <a:ext cx="228234" cy="22823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08848" y="4855464"/>
            <a:ext cx="310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 y oscuro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8308848" y="5129784"/>
            <a:ext cx="3102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persistencia y sin flash de color al cargar la página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MÓDULOS DE NEGOCIO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del sistema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2574036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2128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5" y="2336475"/>
            <a:ext cx="228234" cy="2282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79806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49808" y="3072384"/>
            <a:ext cx="2171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Setup Wizard, roles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78708" y="2011680"/>
            <a:ext cx="2574036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3579876" y="22128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503" y="233647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79876" y="279806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3579876" y="3072384"/>
            <a:ext cx="2171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carrito, caja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08776" y="2011680"/>
            <a:ext cx="2574036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409944" y="22128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571" y="2336475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9944" y="279806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409944" y="3072384"/>
            <a:ext cx="2171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Productos, stock, vencimientos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038844" y="2011680"/>
            <a:ext cx="2574036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240012" y="22128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639" y="2336475"/>
            <a:ext cx="228234" cy="22823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40012" y="279806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240012" y="3072384"/>
            <a:ext cx="2171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Proveedores, notas, OC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1963674" y="4069080"/>
            <a:ext cx="2574036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27" name="Shape 20"/>
          <p:cNvSpPr/>
          <p:nvPr/>
        </p:nvSpPr>
        <p:spPr>
          <a:xfrm>
            <a:off x="2164842" y="42702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469" y="4393875"/>
            <a:ext cx="228234" cy="22823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2164842" y="485546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2164842" y="5129784"/>
            <a:ext cx="2171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Clientes, cuenta corriente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793742" y="4069080"/>
            <a:ext cx="2574036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32" name="Shape 24"/>
          <p:cNvSpPr/>
          <p:nvPr/>
        </p:nvSpPr>
        <p:spPr>
          <a:xfrm>
            <a:off x="4994910" y="42702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8537" y="4393875"/>
            <a:ext cx="228234" cy="22823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994910" y="485546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4994910" y="5129784"/>
            <a:ext cx="2171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y KPIs</a:t>
            </a:r>
            <a:endParaRPr lang="en-US" sz="1100" dirty="0"/>
          </a:p>
        </p:txBody>
      </p:sp>
      <p:sp>
        <p:nvSpPr>
          <p:cNvPr id="36" name="Shape 27"/>
          <p:cNvSpPr/>
          <p:nvPr/>
        </p:nvSpPr>
        <p:spPr>
          <a:xfrm>
            <a:off x="7623810" y="4069080"/>
            <a:ext cx="2574036" cy="1783080"/>
          </a:xfrm>
          <a:prstGeom prst="roundRect">
            <a:avLst>
              <a:gd name="adj" fmla="val 4615"/>
            </a:avLst>
          </a:prstGeom>
          <a:solidFill>
            <a:srgbClr val="F1F5F9"/>
          </a:solidFill>
          <a:ln/>
        </p:spPr>
      </p:sp>
      <p:sp>
        <p:nvSpPr>
          <p:cNvPr id="37" name="Shape 28"/>
          <p:cNvSpPr/>
          <p:nvPr/>
        </p:nvSpPr>
        <p:spPr>
          <a:xfrm>
            <a:off x="7824978" y="42702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48605" y="4393875"/>
            <a:ext cx="228234" cy="228234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824978" y="485546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40" name="Text 30"/>
          <p:cNvSpPr/>
          <p:nvPr/>
        </p:nvSpPr>
        <p:spPr>
          <a:xfrm>
            <a:off x="7824978" y="5129784"/>
            <a:ext cx="21717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Usuarios, descuentos, config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FINAL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final integral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54864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automatizados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06908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406908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archivos de prueba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580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7589520" y="2651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prueba cubiertos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3749040"/>
            <a:ext cx="2574036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749808" y="395020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5" y="4073835"/>
            <a:ext cx="228234" cy="22823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" y="453542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749808" y="4809744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formatters, carrito (IVA y descuentos), ticket, login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3378708" y="3749040"/>
            <a:ext cx="2574036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</p:spPr>
      </p:sp>
      <p:sp>
        <p:nvSpPr>
          <p:cNvPr id="18" name="Shape 14"/>
          <p:cNvSpPr/>
          <p:nvPr/>
        </p:nvSpPr>
        <p:spPr>
          <a:xfrm>
            <a:off x="3579876" y="395020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503" y="4073835"/>
            <a:ext cx="228234" cy="22823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579876" y="453542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3579876" y="4809744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+ stock + cliente, cuenta corriente, turno + caja</a:t>
            </a:r>
            <a:endParaRPr lang="en-US" sz="1080" dirty="0"/>
          </a:p>
        </p:txBody>
      </p:sp>
      <p:sp>
        <p:nvSpPr>
          <p:cNvPr id="22" name="Shape 17"/>
          <p:cNvSpPr/>
          <p:nvPr/>
        </p:nvSpPr>
        <p:spPr>
          <a:xfrm>
            <a:off x="6208776" y="3749040"/>
            <a:ext cx="2574036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</p:spPr>
      </p:sp>
      <p:sp>
        <p:nvSpPr>
          <p:cNvPr id="23" name="Shape 18"/>
          <p:cNvSpPr/>
          <p:nvPr/>
        </p:nvSpPr>
        <p:spPr>
          <a:xfrm>
            <a:off x="6409944" y="395020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571" y="4073835"/>
            <a:ext cx="228234" cy="22823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09944" y="453542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/ UI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6409944" y="4809744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alta de cliente, búsqueda de productos</a:t>
            </a:r>
            <a:endParaRPr lang="en-US" sz="1080" dirty="0"/>
          </a:p>
        </p:txBody>
      </p:sp>
      <p:sp>
        <p:nvSpPr>
          <p:cNvPr id="27" name="Shape 21"/>
          <p:cNvSpPr/>
          <p:nvPr/>
        </p:nvSpPr>
        <p:spPr>
          <a:xfrm>
            <a:off x="9038844" y="3749040"/>
            <a:ext cx="2574036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</p:spPr>
      </p:sp>
      <p:sp>
        <p:nvSpPr>
          <p:cNvPr id="28" name="Shape 22"/>
          <p:cNvSpPr/>
          <p:nvPr/>
        </p:nvSpPr>
        <p:spPr>
          <a:xfrm>
            <a:off x="9240012" y="395020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639" y="4073835"/>
            <a:ext cx="228234" cy="22823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40012" y="453542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Rendimiento básico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9240012" y="4809744"/>
            <a:ext cx="21717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carrito con ~500 ítems, bajo un umbral de tiempo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Documentación y repositorio final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2574036" cy="3017520"/>
          </a:xfrm>
          <a:prstGeom prst="roundRect">
            <a:avLst>
              <a:gd name="adj" fmla="val 3197"/>
            </a:avLst>
          </a:prstGeom>
          <a:solidFill>
            <a:srgbClr val="F1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2128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5" y="2336475"/>
            <a:ext cx="228234" cy="2282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79806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Usuario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49808" y="3072384"/>
            <a:ext cx="21717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operativa por rol: Cajero, Repositor, Administrador (.docx)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378708" y="2011680"/>
            <a:ext cx="2574036" cy="3017520"/>
          </a:xfrm>
          <a:prstGeom prst="roundRect">
            <a:avLst>
              <a:gd name="adj" fmla="val 3197"/>
            </a:avLst>
          </a:prstGeom>
          <a:solidFill>
            <a:srgbClr val="F1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3579876" y="22128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503" y="233647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79876" y="279806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Técnico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579876" y="3072384"/>
            <a:ext cx="21717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modelo de datos, RPCs y lógica de negocio, con 6 diagramas (.docx)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208776" y="2011680"/>
            <a:ext cx="2574036" cy="3017520"/>
          </a:xfrm>
          <a:prstGeom prst="roundRect">
            <a:avLst>
              <a:gd name="adj" fmla="val 3197"/>
            </a:avLst>
          </a:prstGeom>
          <a:solidFill>
            <a:srgbClr val="F1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6409944" y="22128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3571" y="2336475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409944" y="279806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instalación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409944" y="3072384"/>
            <a:ext cx="21717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Instalación desde cero en un ambiente nuevo e independiente (INSTALL.md)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038844" y="2011680"/>
            <a:ext cx="2574036" cy="3017520"/>
          </a:xfrm>
          <a:prstGeom prst="roundRect">
            <a:avLst>
              <a:gd name="adj" fmla="val 3197"/>
            </a:avLst>
          </a:prstGeom>
          <a:solidFill>
            <a:srgbClr val="F1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9240012" y="22128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639" y="2336475"/>
            <a:ext cx="228234" cy="22823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240012" y="2798064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GitHub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240012" y="3072384"/>
            <a:ext cx="21717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ordenado, esquema SQL exportable y actualizado, historial de cambios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7208" y="1371600"/>
            <a:ext cx="1097280" cy="10972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500" y="1656893"/>
            <a:ext cx="526694" cy="5266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Demostración en vivo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  →   Venta en el POS   →   Stock   →   Cuenta corriente   →   Reportes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41148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muestra el sistema funcionando en el ambiente real de producción.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CAMINO RECORRIDO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Dificultades encontradas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420624" cy="420624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02" y="2212482"/>
            <a:ext cx="201900" cy="2019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70432" y="2075688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Migraciones no versionadas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170432" y="2359152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detectó una tabla en uso en producción (customer_payments, cuenta corriente) ausente del esquema versionado — se corrigió antes del cierre.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3794760"/>
            <a:ext cx="420624" cy="420624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02" y="3904122"/>
            <a:ext cx="201900" cy="2019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70432" y="3767328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a nivel de base de datos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1170432" y="4050792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control de acceso por rol vive hoy en el frontend; la base de datos todavía no distingue roles fila por fila.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72200" y="2103120"/>
            <a:ext cx="420624" cy="420624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1562" y="2212482"/>
            <a:ext cx="201900" cy="2019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793992" y="2075688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iterativos de UX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6793992" y="2359152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visuales de IVA, husos horarios en reportes y otros casos relevados y corregidos durante la cursada.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6172200" y="3794760"/>
            <a:ext cx="420624" cy="420624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562" y="3904122"/>
            <a:ext cx="201900" cy="2019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93992" y="3767328"/>
            <a:ext cx="4498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de equipo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6793992" y="4050792"/>
            <a:ext cx="4498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Repartir testing, documentación y correcciones sobre un mismo código en desarrollo activo.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DEL ALCANCE INICIAL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Mejoras logradas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3505200" cy="1645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7" name="Shape 4"/>
          <p:cNvSpPr/>
          <p:nvPr/>
        </p:nvSpPr>
        <p:spPr>
          <a:xfrm>
            <a:off x="749808" y="216712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435" y="2290755"/>
            <a:ext cx="228234" cy="2282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49808" y="2752344"/>
            <a:ext cx="310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claro y oscuro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749808" y="3026664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persistencia entre sesiones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4328160" y="1965960"/>
            <a:ext cx="3505200" cy="1645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2" name="Shape 8"/>
          <p:cNvSpPr/>
          <p:nvPr/>
        </p:nvSpPr>
        <p:spPr>
          <a:xfrm>
            <a:off x="4529328" y="216712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955" y="2290755"/>
            <a:ext cx="228234" cy="22823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9328" y="2752344"/>
            <a:ext cx="310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de góndola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29328" y="3026664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Generador de PDF listo para imprimir</a:t>
            </a:r>
            <a:endParaRPr lang="en-US" sz="1080" dirty="0"/>
          </a:p>
        </p:txBody>
      </p:sp>
      <p:sp>
        <p:nvSpPr>
          <p:cNvPr id="16" name="Shape 11"/>
          <p:cNvSpPr/>
          <p:nvPr/>
        </p:nvSpPr>
        <p:spPr>
          <a:xfrm>
            <a:off x="8107680" y="1965960"/>
            <a:ext cx="3505200" cy="1645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17" name="Shape 12"/>
          <p:cNvSpPr/>
          <p:nvPr/>
        </p:nvSpPr>
        <p:spPr>
          <a:xfrm>
            <a:off x="8308848" y="216712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475" y="2290755"/>
            <a:ext cx="228234" cy="22823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08848" y="2752344"/>
            <a:ext cx="310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turno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8308848" y="3026664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del cajero activo en tiempo real</a:t>
            </a:r>
            <a:endParaRPr lang="en-US" sz="1080" dirty="0"/>
          </a:p>
        </p:txBody>
      </p:sp>
      <p:sp>
        <p:nvSpPr>
          <p:cNvPr id="21" name="Shape 15"/>
          <p:cNvSpPr/>
          <p:nvPr/>
        </p:nvSpPr>
        <p:spPr>
          <a:xfrm>
            <a:off x="548640" y="3840480"/>
            <a:ext cx="3505200" cy="1645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22" name="Shape 16"/>
          <p:cNvSpPr/>
          <p:nvPr/>
        </p:nvSpPr>
        <p:spPr>
          <a:xfrm>
            <a:off x="749808" y="40416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435" y="4165275"/>
            <a:ext cx="228234" cy="22823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9808" y="4626864"/>
            <a:ext cx="310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 cuenta en PDF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749808" y="4901184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movimientos del cliente</a:t>
            </a:r>
            <a:endParaRPr lang="en-US" sz="1080" dirty="0"/>
          </a:p>
        </p:txBody>
      </p:sp>
      <p:sp>
        <p:nvSpPr>
          <p:cNvPr id="26" name="Shape 19"/>
          <p:cNvSpPr/>
          <p:nvPr/>
        </p:nvSpPr>
        <p:spPr>
          <a:xfrm>
            <a:off x="4328160" y="3840480"/>
            <a:ext cx="3505200" cy="1645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27" name="Shape 20"/>
          <p:cNvSpPr/>
          <p:nvPr/>
        </p:nvSpPr>
        <p:spPr>
          <a:xfrm>
            <a:off x="4529328" y="40416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2955" y="4165275"/>
            <a:ext cx="228234" cy="22823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529328" y="4626864"/>
            <a:ext cx="310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gráficos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529328" y="4901184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Recaudación y ventas de los últimos 7 días</a:t>
            </a:r>
            <a:endParaRPr lang="en-US" sz="1080" dirty="0"/>
          </a:p>
        </p:txBody>
      </p:sp>
      <p:sp>
        <p:nvSpPr>
          <p:cNvPr id="31" name="Shape 23"/>
          <p:cNvSpPr/>
          <p:nvPr/>
        </p:nvSpPr>
        <p:spPr>
          <a:xfrm>
            <a:off x="8107680" y="3840480"/>
            <a:ext cx="3505200" cy="1645920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/>
        </p:spPr>
      </p:sp>
      <p:sp>
        <p:nvSpPr>
          <p:cNvPr id="32" name="Shape 24"/>
          <p:cNvSpPr/>
          <p:nvPr/>
        </p:nvSpPr>
        <p:spPr>
          <a:xfrm>
            <a:off x="8308848" y="4041648"/>
            <a:ext cx="475488" cy="47548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2475" y="4165275"/>
            <a:ext cx="228234" cy="22823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08848" y="4626864"/>
            <a:ext cx="3102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caja opcional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8308848" y="4901184"/>
            <a:ext cx="3102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obliga a abrir una nueva sesión al instante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CUATRIMESTRE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325880" y="713232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Condición de aprobación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492" y="2157252"/>
            <a:ext cx="184343" cy="1843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15568" y="2029968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entregado y funcional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548640" y="2807208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92" y="2907060"/>
            <a:ext cx="184343" cy="1843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15568" y="2779776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Documentado — manual de usuario, manual técnico y guía de instalación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92" y="3656868"/>
            <a:ext cx="184343" cy="1843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5568" y="3529584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Testeado — 76 pruebas automatizadas de 4 tipos distintos</a:t>
            </a:r>
            <a:endParaRPr lang="en-US" sz="1600" dirty="0"/>
          </a:p>
        </p:txBody>
      </p:sp>
      <p:sp>
        <p:nvSpPr>
          <p:cNvPr id="15" name="Shape 9"/>
          <p:cNvSpPr/>
          <p:nvPr/>
        </p:nvSpPr>
        <p:spPr>
          <a:xfrm>
            <a:off x="548640" y="4306824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492" y="4406676"/>
            <a:ext cx="184343" cy="1843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15568" y="4279392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final ordenado, con esquema de base actualizado</a:t>
            </a:r>
            <a:endParaRPr lang="en-US" sz="1600" dirty="0"/>
          </a:p>
        </p:txBody>
      </p:sp>
      <p:sp>
        <p:nvSpPr>
          <p:cNvPr id="18" name="Shape 11"/>
          <p:cNvSpPr/>
          <p:nvPr/>
        </p:nvSpPr>
        <p:spPr>
          <a:xfrm>
            <a:off x="548640" y="5056632"/>
            <a:ext cx="384048" cy="384048"/>
          </a:xfrm>
          <a:prstGeom prst="ellipse">
            <a:avLst/>
          </a:prstGeom>
          <a:solidFill>
            <a:srgbClr val="DCFCE7"/>
          </a:solidFill>
          <a:ln/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492" y="5156484"/>
            <a:ext cx="184343" cy="18434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15568" y="5029200"/>
            <a:ext cx="9875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Defendido oralmente ante la cátedra — hoy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965960"/>
            <a:ext cx="1005840" cy="10058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4446" y="222747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91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9319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62179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POS La Economía  ·  Práctica Profesionalizante II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Práctica Profesionalizante II —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Final — Módulo V</dc:title>
  <dc:subject>PptxGenJS Presentation</dc:subject>
  <dc:creator>Sistema POS La Economía</dc:creator>
  <cp:lastModifiedBy>Sistema POS La Economía</cp:lastModifiedBy>
  <cp:revision>1</cp:revision>
  <dcterms:created xsi:type="dcterms:W3CDTF">2026-08-12T20:30:55Z</dcterms:created>
  <dcterms:modified xsi:type="dcterms:W3CDTF">2026-08-12T20:30:55Z</dcterms:modified>
</cp:coreProperties>
</file>